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Adaptive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C72C"/>
                </a:solidFill>
              </a:rPr>
              <a:t>Dynamic Thresholding · Cost-Sensitive Learning · OOD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BCCDD"/>
                </a:solidFill>
              </a:rPr>
              <a:t>EE559 / CSCI 559 — Machine Learning, Spring 2026
Prof. Anand A. Joshi  |  University of Southern California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Om Suresh Prajapati  |  USC ID: 1430823821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C72C"/>
                </a:solidFill>
              </a:rPr>
              <a:t>Final Presentation  ·  May 4,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2743200" cy="36576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45752" y="6492240"/>
            <a:ext cx="2743200" cy="36576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5296"/>
                </a:solidFill>
              </a:rPr>
              <a:t>15-minute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Problem Statement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665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8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ML Pipeline &amp;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Class Imbalance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027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Models &amp; 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Results: Baseline vs. Full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268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Threshold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38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Cost-Sensitive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50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Novel Contribution: OOD Detection (Isolation Forest)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630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Error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75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Final Test Results &amp; Conclusions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5296"/>
                </a:solidFill>
              </a:rPr>
              <a:t>Why fraud detection is a hard ML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Credit card fraud costs the global economy over $30 billion annually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665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Fraudulent transactions are extremely rare → severe class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8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Standard accuracy is misleading: 99.83% by predicting all legitimate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Asymmetric costs: missing fraud (FN) is far more costly than a false alarm (FP)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027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FN cost = €500 per missed fraud   |   FP cost = €10 per false alarm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99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Goal: maximize fraud recall while controlling false positives under a real cost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Novel extension: detect previously unseen fraud patterns with OOD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4389120" cy="7772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72C"/>
                </a:solidFill>
              </a:rPr>
              <a:t>284,807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Total Transactions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4389120" cy="7772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72C"/>
                </a:solidFill>
              </a:rPr>
              <a:t>492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317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Fraudulent (0.17%)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4389120" cy="7772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1272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72C"/>
                </a:solidFill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46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Features (V1–V28 + Time + Amount)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4389120" cy="7772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04164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72C"/>
                </a:solidFill>
              </a:rPr>
              <a:t>PCA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1605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V1–V28 are anonymised principal components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280160"/>
            <a:ext cx="67665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371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295C"/>
                </a:solidFill>
              </a:rPr>
              <a:t>Key Characteristics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874519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 Source: Kaggle Credit Card Fraud Detection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331719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 Split: 70% train / 10% validation / 20%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88919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 Stratified split preserves 0.17% fraud rate in each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246119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 Amount feature log-transformed (log1p) before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703319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 Time feature scaled with StandardScaler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60519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 No missing values; no text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617719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 Class ratio  →  1 fraud per ~578 legitimate transactions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 Pipeline &amp;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296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284,807 rows · 30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Stratified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29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70 / 10 / 20  train/val/test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296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log1p(Amount) · StandardScaler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Imbalance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296"/>
                </a:solidFill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Balanced weights / SMOTE / Under-sampling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296"/>
                </a:solidFill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LR · DT · RF · GBT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Threshold Tuning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450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296"/>
                </a:solidFill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Sweep on validation 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Cost-Sensitive Eval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296"/>
                </a:solidFill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€500 FN / €10 FP business cost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1371600"/>
            <a:ext cx="1280160" cy="640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13716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72C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OOD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1031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33333"/>
                </a:solidFill>
              </a:rPr>
              <a:t>Isolation Forest on legitimate transactions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200400"/>
            <a:ext cx="1161288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295C"/>
                </a:solidFill>
              </a:rPr>
              <a:t>Preprocessing Details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749039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 Train set only used to fit scaler (prevent data leakage)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151375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 SMOTE applied only to training set after split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53711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 Validation set used for threshold search; test set touched once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749039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 PR-AUC preferred over ROC-AUC for imbalanced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151375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 Threshold chosen to maximise F1 or minimise business cost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553711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 All models evaluated with same val/test splits for fairness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 Imbalance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3840480" cy="49377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72C"/>
                </a:solidFill>
              </a:rPr>
              <a:t>Balanced Class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74519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Assigns higher penalty to minority (fraud) class during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532887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Weight ∝ n_samples / (n_classes × n_samples_per_class)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3191255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No change to dataset size — computationally cheap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849623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Works natively with sklearn estimators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4507991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★ Best performer overall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188720"/>
            <a:ext cx="3840480" cy="493776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72C"/>
                </a:solidFill>
              </a:rPr>
              <a:t>SMOTE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874519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Synthetic Minority Over-sampling 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532887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Generates synthetic fraud samples by interpolating k-NN neighbours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3191255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Balances training set to ~50/50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3849623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Risk: synthetic samples may not match real fraud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507991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Best for GBT in our experiments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188720"/>
            <a:ext cx="3840480" cy="493776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72C"/>
                </a:solidFill>
              </a:rPr>
              <a:t>Random Under-sampling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874519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Randomly drops legitimate transactions from training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532887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Creates a balanced training set (small and fast)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191255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Loses potentially useful legitimate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3849623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Lower absolute performance — used as a baseline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507991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Useful when training time is constrained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Models &amp; 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295C"/>
                </a:solidFill>
              </a:rPr>
              <a:t>Models Trained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120640" cy="6583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6537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2C"/>
                </a:solidFill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Linear baseline; fast, interpretable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78608"/>
            <a:ext cx="5120640" cy="6583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2C"/>
                </a:solidFill>
              </a:rP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9864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Non-linear, fully interpretable; prone to overfit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28416"/>
            <a:ext cx="5120640" cy="6583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649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2C"/>
                </a:solidFill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Ensemble of trees; robust, high PR-AUC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78224"/>
            <a:ext cx="5120640" cy="6583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2C"/>
                </a:solidFill>
              </a:rPr>
              <a:t>Gradient Boosted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982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Sequential boosting; strong on SMOTE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28032"/>
            <a:ext cx="5120640" cy="6583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6460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72C"/>
                </a:solidFill>
              </a:rPr>
              <a:t>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4807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Unsupervised OOD detector (novel contribution)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566928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295C"/>
                </a:solidFill>
              </a:rPr>
              <a:t>Evaluation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28800"/>
            <a:ext cx="5120640" cy="71323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828800"/>
            <a:ext cx="777240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29968"/>
            <a:ext cx="795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865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</a:rPr>
              <a:t>PR-AUC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13969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Area under Precision-Recall curve;
best for imbalanced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633472"/>
            <a:ext cx="5120640" cy="71323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633472"/>
            <a:ext cx="777240" cy="713232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834640"/>
            <a:ext cx="795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secondary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670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</a:rPr>
              <a:t>ROC-AUC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9443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Discrimination ability across
all thresholds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438144"/>
            <a:ext cx="5120640" cy="71323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438144"/>
            <a:ext cx="777240" cy="713232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639312"/>
            <a:ext cx="795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secondary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</a:rPr>
              <a:t>F1-score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749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Harmonic mean of precision &amp; recall
at optimal threshold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242816"/>
            <a:ext cx="5120640" cy="71323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242816"/>
            <a:ext cx="777240" cy="713232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443984"/>
            <a:ext cx="795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279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</a:rPr>
              <a:t>Recall (Sensitivity)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5537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Fraction of fraud caught —
business priority #1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047488"/>
            <a:ext cx="5120640" cy="71323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5047488"/>
            <a:ext cx="777240" cy="71323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248656"/>
            <a:ext cx="795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novel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0840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</a:rPr>
              <a:t>Business 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35838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€500 × FN + €10 × FP
Real-world cost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Baseline Results (Default Threshold = 0.5)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5296"/>
                </a:solidFill>
              </a:rPr>
              <a:t>Default 0.5 threshold — PR-AUC is the primary metric for imbalanced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320040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155448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81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ROC-AUC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554480"/>
            <a:ext cx="155448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581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PR-AUC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554480"/>
            <a:ext cx="155448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81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155448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81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554480"/>
            <a:ext cx="155448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581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38528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1965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Logistic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9385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0.986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9385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0.752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9385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91.9%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9385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6.8%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9385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0.127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322576"/>
            <a:ext cx="320040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23500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Random Forest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322576"/>
            <a:ext cx="155448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2350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0.951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2322576"/>
            <a:ext cx="155448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2350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0.864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322576"/>
            <a:ext cx="155448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2350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79.7%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322576"/>
            <a:ext cx="155448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2350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93.7%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2322576"/>
            <a:ext cx="155448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2350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0.861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 Model Comparison (Validation 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5296"/>
                </a:solidFill>
              </a:rPr>
              <a:t>★ Best overall: Random Forest (balanced) — highest PR-AUC + lowest business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10312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554480"/>
            <a:ext cx="146304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Val PR-AUC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554480"/>
            <a:ext cx="146304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Val 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554480"/>
            <a:ext cx="146304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F1 Thresh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554480"/>
            <a:ext cx="118872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581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Val 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554480"/>
            <a:ext cx="146304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Val 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554480"/>
            <a:ext cx="1554480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581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72C"/>
                </a:solidFill>
              </a:rPr>
              <a:t>Min Cost (€)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938528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965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LR (balanced)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193852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1965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0.752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193852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1965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0.986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193852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1965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93852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0.727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193852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1965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86.5%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93852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965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5,380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322576"/>
            <a:ext cx="210312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2350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RF (balanced)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322576"/>
            <a:ext cx="146304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31720" y="2350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0.864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2322576"/>
            <a:ext cx="146304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60" y="2350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0.951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2322576"/>
            <a:ext cx="146304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2350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0.192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2322576"/>
            <a:ext cx="118872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23500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0.877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2322576"/>
            <a:ext cx="146304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2350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86.5%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322576"/>
            <a:ext cx="155448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2350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8A5A"/>
                </a:solidFill>
              </a:rPr>
              <a:t>5,080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2706624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2734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GBT (balanced)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0" y="27066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31720" y="2734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0.784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9040" y="27066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4760" y="2734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0.982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27066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57800" y="2734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0.951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270662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27340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0.853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270662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09560" y="2734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82.4%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270662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27340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6,580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090672"/>
            <a:ext cx="210312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GBT (SMOTE)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3090672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3118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0.853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49040" y="3090672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94760" y="3118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0.973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3090672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57800" y="3118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0.960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3090672"/>
            <a:ext cx="118872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20840" y="31181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0.879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3090672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3118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83.8%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0" y="3090672"/>
            <a:ext cx="155448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72600" y="31181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6,050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347472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8600" y="3502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DT (balanced)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0" y="34747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31720" y="3502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0.656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40" y="34747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94760" y="3502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0.945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12080" y="34747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57800" y="3502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0.990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75120" y="347472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20840" y="3502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0.727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34747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09560" y="3502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86.5%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26880" y="347472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72600" y="3502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5,380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" y="3858768"/>
            <a:ext cx="210312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8600" y="3886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Isolation Forest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0" y="3858768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3172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0.088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49040" y="3858768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9476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0.945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12080" y="3858768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5780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N/A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75120" y="3858768"/>
            <a:ext cx="118872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20840" y="3886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0.177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63840" y="3858768"/>
            <a:ext cx="146304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0956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20.3%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26880" y="3858768"/>
            <a:ext cx="1554480" cy="3840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72600" y="3886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N/A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Dynamic Threshold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95C"/>
                </a:solidFill>
              </a:rPr>
              <a:t>Why tune the threshold?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Sklearn classifiers default to 0.5, but the optimal decision boundary for imbalanced fraud data is much lower.
We sweep threshold t ∈ [0, 1] on the validation set and pick the value that maximises F1 or minimises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06040"/>
            <a:ext cx="3657600" cy="38404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72C"/>
                </a:solidFill>
              </a:rPr>
              <a:t>F1-Optimal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004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Sweep t on validation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033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Compute F1 at each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062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Pick t* = argmax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09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RF best: t* = 0.192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120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Lower threshold → more recalls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606040"/>
            <a:ext cx="3657600" cy="384048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72C"/>
                </a:solidFill>
              </a:rPr>
              <a:t>Cost-Optimal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004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Compute cost = €500×FN + €10×FP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033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Pick t* = argmin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062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RF best: t* = 0.044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09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Very aggressive — catches more 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2120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Trades precision for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606040"/>
            <a:ext cx="3657600" cy="384048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72C"/>
                </a:solidFill>
              </a:rPr>
              <a:t>Key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2004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Default 0.5 misses ~20% of fraud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7033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RF F1-optimal (t=0.192) catches 86.5%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2062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Even at t=0.192, precision stays at 88.9%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709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Threshold tuning is free (no retraining)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2120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Critical for real fraud systems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Cost-Sensitive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72C"/>
                </a:solidFill>
              </a:rPr>
              <a:t>Business Cost  =  €500 × False Negatives  +  €10 ×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FN: missed fraud (severe)     |     FP: legitimate flagged (minor inconvenience)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286000"/>
            <a:ext cx="2743200" cy="34747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3134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72C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1828800" cy="34747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134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72C"/>
                </a:solidFill>
              </a:rPr>
              <a:t>F1 Thresh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86000"/>
            <a:ext cx="3200400" cy="34747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3134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72C"/>
                </a:solidFill>
              </a:rPr>
              <a:t>Min Val Cost (€)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286000"/>
            <a:ext cx="1828800" cy="34747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3134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72C"/>
                </a:solidFill>
              </a:rPr>
              <a:t>Cost Thresh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633472"/>
            <a:ext cx="27432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2660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LR (balanced)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33472"/>
            <a:ext cx="1828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66090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0.990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633472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6609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€5,380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633472"/>
            <a:ext cx="1828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66090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0.985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980944"/>
            <a:ext cx="2743200" cy="347472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3008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8A5A"/>
                </a:solidFill>
              </a:rPr>
              <a:t>RF (balanced)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980944"/>
            <a:ext cx="1828800" cy="347472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0083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8A5A"/>
                </a:solidFill>
              </a:rPr>
              <a:t>0.192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80944"/>
            <a:ext cx="3200400" cy="347472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00837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8A5A"/>
                </a:solidFill>
              </a:rPr>
              <a:t>€5,080 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980944"/>
            <a:ext cx="1828800" cy="347472"/>
          </a:xfrm>
          <a:prstGeom prst="rect">
            <a:avLst/>
          </a:prstGeom>
          <a:solidFill>
            <a:srgbClr val="E8F4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0083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8A5A"/>
                </a:solidFill>
              </a:rPr>
              <a:t>0.044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3328416"/>
            <a:ext cx="27432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3355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GBT (balanced)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328416"/>
            <a:ext cx="1828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355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0.951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328416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3558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€6,580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3328416"/>
            <a:ext cx="1828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355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0.837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3675888"/>
            <a:ext cx="2743200" cy="34747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00200" y="37033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GBT (SMOTE)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675888"/>
            <a:ext cx="1828800" cy="34747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37033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0.960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675888"/>
            <a:ext cx="3200400" cy="34747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37033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€6,050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675888"/>
            <a:ext cx="1828800" cy="347472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37033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0.251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54480" y="4023360"/>
            <a:ext cx="27432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00200" y="40507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DT (balanced)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023360"/>
            <a:ext cx="1828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40507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0.990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402336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40507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€5,380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4023360"/>
            <a:ext cx="1828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72600" y="40507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</a:rPr>
              <a:t>0.951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20640"/>
            <a:ext cx="11612880" cy="128016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23036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Key Takeaway: RF (balanced) achieves the lowest validation cost of €5,080 at cost-optimal threshold t=0.044.
The cost model forces us to prefer models that prioritize recall, even at the expense of slightly lower precision.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Novel Contribution: OOD Detection with Isolation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52120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72C"/>
                </a:solidFill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Supervised models are trained on known fraud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500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Novel fraud tactics not in training data will be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169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Isolation Forest is trained ONLY on legitimate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838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Any transaction that looks 'anomalous' relative to legitimate data is 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507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Complements supervised models — catches what they cannot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17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Unsupervised: requires no fraud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188720"/>
            <a:ext cx="6035040" cy="237744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2984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72C"/>
                </a:solidFill>
              </a:rPr>
              <a:t>How Isolation Forest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7830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Builds random trees that recursively partition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585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Anomalies are isolated in fewer splits (shorter paths)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73405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Anomaly score = average path length across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20954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contamination=0.01 (flags top 1% as anomalous)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749039"/>
            <a:ext cx="603504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840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95C"/>
                </a:solidFill>
              </a:rPr>
              <a:t>OOD Detection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</a:rPr>
              <a:t>ROC-AUC: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43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0.945   (competitive!)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7457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</a:rPr>
              <a:t>PR-AUC: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45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0.088   (low — no fraud in training)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148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</a:rPr>
              <a:t>Recall (fraud):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1480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20.3%   (unsupervised baseline)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550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</a:rPr>
              <a:t>Interpretation: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5504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Used as a parallel detector, not a replacement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9527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</a:rPr>
              <a:t>Best use case: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9527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Flag transactions that evade supervised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Error Analysis — Where the Model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5296"/>
                </a:solidFill>
              </a:rPr>
              <a:t>Analysis of False Negatives and False Positives from the best model (RF balanced)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False Negatives (Missed Fraud) — most critical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665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Fraudulent transactions with Amount ≈ legitimate median → hard to distinguish by value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237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Fraud samples near the class boundary in PCA feature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809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Rare fraud subtypes not well-represented in training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381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False Positives (Legitimate Flagged) — secondary concern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0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Legitimate high-value transactions that look statistically unusual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074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Transactions at unusual hours (low Time feature values)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64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Outlier legitimate users with non-standard spending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21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▸  Error Patterns by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33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LR: High recall but poor precision at default threshold — floods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RF: Best balance — low FP rate at t=0.192 with strong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748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5296"/>
                </a:solidFill>
              </a:rPr>
              <a:t>–  DT: Overfits training; high variance in error 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Final Test Set Results — Best Model: RF (balanced)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0392B"/>
                </a:solidFill>
              </a:rPr>
              <a:t>Test set used exactly ONCE — these are the final, unbiased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828800" cy="141732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09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72C"/>
                </a:solidFill>
              </a:rPr>
              <a:t>0.8116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50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CCDD"/>
                </a:solidFill>
              </a:rPr>
              <a:t>Primary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1600200"/>
            <a:ext cx="1828800" cy="14173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709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72C"/>
                </a:solidFill>
              </a:rPr>
              <a:t>0.9376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350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CCDD"/>
                </a:solidFill>
              </a:rPr>
              <a:t>Discrimination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1600200"/>
            <a:ext cx="1828800" cy="141732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709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72C"/>
                </a:solidFill>
              </a:rPr>
              <a:t>0.8356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350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CCDD"/>
                </a:solidFill>
              </a:rPr>
              <a:t>Balanced measure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1600200"/>
            <a:ext cx="1828800" cy="1417320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709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72C"/>
                </a:solidFill>
              </a:rPr>
              <a:t>82.4%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350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CCDD"/>
                </a:solidFill>
              </a:rPr>
              <a:t>Fraud caught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93608" y="1600200"/>
            <a:ext cx="1828800" cy="14173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709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72C"/>
                </a:solidFill>
              </a:rPr>
              <a:t>84.7%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350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CCDD"/>
                </a:solidFill>
              </a:rPr>
              <a:t>Alert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7000" y="1600200"/>
            <a:ext cx="1828800" cy="14173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1709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72C"/>
                </a:solidFill>
              </a:rPr>
              <a:t>€6,610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350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Business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CCDD"/>
                </a:solidFill>
              </a:rPr>
              <a:t>Real-world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46120"/>
            <a:ext cx="5486400" cy="30175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337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72C"/>
                </a:solidFill>
              </a:rPr>
              <a:t>Confusion Matrix Summary (Test Set)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840480"/>
            <a:ext cx="548640" cy="47548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84048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56,852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8587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True Negatives (TN)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09651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</a:rPr>
              <a:t>Correctly flagged as legitimate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389120"/>
            <a:ext cx="54864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38912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40740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False Positives (FP)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64515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</a:rPr>
              <a:t>Legitimate flagged as fraud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937760"/>
            <a:ext cx="54864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93776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49560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False Negatives (FN)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19379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</a:rPr>
              <a:t>Missed fraud transactions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486400"/>
            <a:ext cx="548640" cy="475488"/>
          </a:xfrm>
          <a:prstGeom prst="rect">
            <a:avLst/>
          </a:prstGeom>
          <a:solidFill>
            <a:srgbClr val="1B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486400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550468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True Positives (TP)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7424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DD"/>
                </a:solidFill>
              </a:rPr>
              <a:t>Correctly caught fraud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246120"/>
            <a:ext cx="585216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5C"/>
                </a:solidFill>
              </a:rPr>
              <a:t>Key Observations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84048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Caught 80 out of 97 fraud cases in test set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29768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Only 17 missed frauds (FN) at threshold t=0.192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75488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Only 17 false alarms (FP) out of 56,869 legitimate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21208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Val → Test generalization gap is small (~3% PR-AUC)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66928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Model shows no sign of severe overfitting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6126480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Cost of €6,610 is acceptable for 56K transactions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88952" cy="7315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521208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72C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RF (balanced) is the best model: PR-AUC 0.864, F1 0.877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Dynamic thresholding (t=0.192) is critical — default 0.5 under-performs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Balanced class weights outperform SMOTE and under-sampling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Cost-sensitive threshold (t=0.044) further reduces business cost to €5,080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Isolation Forest provides a useful unsupervised safety 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Val → Test gap is small, indicating good generalization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669280" cy="5212080"/>
          </a:xfrm>
          <a:prstGeom prst="rect">
            <a:avLst/>
          </a:prstGeom>
          <a:solidFill>
            <a:srgbClr val="1A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98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72C"/>
                </a:solidFill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Ensemble: combine RF + Isolation Forest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Online learning: retrain on streaming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Explore XGBoost / LightGBM for further PR-AUC gains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118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Calibrate predicted probabilities (Platt scaling)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Use SHAP values for transaction-level 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006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Deploy as a real-time scoring microservice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72C"/>
                </a:solidFill>
              </a:rPr>
              <a:t>Thank You  |  Questions?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BCCDD"/>
                </a:solidFill>
              </a:rPr>
              <a:t>Om Suresh Prajapati  ·  oprajapa@usc.edu  ·  EE559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